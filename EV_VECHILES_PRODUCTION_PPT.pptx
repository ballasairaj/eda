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3" r:id="rId6"/>
    <p:sldId id="261" r:id="rId7"/>
    <p:sldId id="264" r:id="rId8"/>
    <p:sldId id="262" r:id="rId9"/>
    <p:sldId id="259" r:id="rId10"/>
  </p:sldIdLst>
  <p:sldSz cx="12192000" cy="6858000"/>
  <p:notesSz cx="6858000" cy="9144000"/>
  <p:embeddedFontLst>
    <p:embeddedFont>
      <p:font typeface="Baskerville Old Face" panose="02020602080505020303" pitchFamily="18" charset="0"/>
      <p:regular r:id="rId12"/>
    </p:embeddedFont>
    <p:embeddedFont>
      <p:font typeface="Bodoni MT" panose="02070603080606020203" pitchFamily="18" charset="0"/>
      <p:regular r:id="rId13"/>
      <p:bold r:id="rId14"/>
      <p:italic r:id="rId15"/>
      <p:boldItalic r:id="rId16"/>
    </p:embeddedFon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358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-399862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938223" y="1971744"/>
            <a:ext cx="8315553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4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Electric Vehicle Population Data Analysis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5127178"/>
            <a:ext cx="5258382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B. Sairaj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72182" y="1252438"/>
            <a:ext cx="1084763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chemeClr val="dk1"/>
              </a:buClr>
              <a:buSzPts val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Balla Sairaj, a recent graduate with a Bachelor of Technology in Computer Science, from CMR Institute Of Technology</a:t>
            </a:r>
            <a:r>
              <a:rPr lang="en-US" sz="1800" dirty="0"/>
              <a:t>.</a:t>
            </a:r>
            <a:endParaRPr lang="en-IN"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35188" y="41655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About me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4DB11-159A-5FCA-DCCC-2F9137531C80}"/>
              </a:ext>
            </a:extLst>
          </p:cNvPr>
          <p:cNvSpPr txBox="1"/>
          <p:nvPr/>
        </p:nvSpPr>
        <p:spPr>
          <a:xfrm>
            <a:off x="335188" y="2447282"/>
            <a:ext cx="71779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Data Science?</a:t>
            </a:r>
          </a:p>
          <a:p>
            <a:endParaRPr lang="en-US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84115-9CD4-2B84-C0DA-442979E755B8}"/>
              </a:ext>
            </a:extLst>
          </p:cNvPr>
          <p:cNvSpPr txBox="1"/>
          <p:nvPr/>
        </p:nvSpPr>
        <p:spPr>
          <a:xfrm>
            <a:off x="672182" y="3429000"/>
            <a:ext cx="108476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Data Science is the art of extracting meaningful insights from raw data. It helps in identifying patterns, predicting trends, and solving real-world problems using technology and analytics, Data Science drives innovation and supports smarter decision-making. It empowers us to transform large datasets into knowledge that creates impact and shapes the future.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46252" y="428829"/>
            <a:ext cx="10515600" cy="71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latin typeface="Bodoni MT" panose="02070603080606020203" pitchFamily="18" charset="0"/>
              </a:rPr>
              <a:t>Dataset Overview :</a:t>
            </a:r>
            <a:endParaRPr sz="4000" b="1" dirty="0">
              <a:solidFill>
                <a:srgbClr val="FF0000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B3FD-FDC1-0E48-CCF6-590FCD7E5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252" y="1450071"/>
            <a:ext cx="11099496" cy="462255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Baskerville Old Face" panose="02020602080505020303" pitchFamily="18" charset="0"/>
              </a:rPr>
              <a:t>The dataset provides a </a:t>
            </a:r>
            <a:r>
              <a:rPr lang="en-US" sz="2000" b="1" dirty="0">
                <a:latin typeface="Baskerville Old Face" panose="02020602080505020303" pitchFamily="18" charset="0"/>
              </a:rPr>
              <a:t>comprehensive view of EV adoption patterns</a:t>
            </a:r>
            <a:r>
              <a:rPr lang="en-US" sz="2000" dirty="0">
                <a:latin typeface="Baskerville Old Face" panose="02020602080505020303" pitchFamily="18" charset="0"/>
              </a:rPr>
              <a:t> across counties and cities.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doni MT" panose="02070603080606020203" pitchFamily="18" charset="0"/>
              </a:rPr>
              <a:t>It highlights the </a:t>
            </a:r>
            <a:r>
              <a:rPr lang="en-US" sz="2000" b="1" dirty="0">
                <a:latin typeface="Bodoni MT" panose="02070603080606020203" pitchFamily="18" charset="0"/>
              </a:rPr>
              <a:t>dominance of certain manufacturers</a:t>
            </a:r>
            <a:r>
              <a:rPr lang="en-US" sz="2000" dirty="0">
                <a:latin typeface="Bodoni MT" panose="02070603080606020203" pitchFamily="18" charset="0"/>
              </a:rPr>
              <a:t> and the growing preference for </a:t>
            </a:r>
            <a:r>
              <a:rPr lang="en-US" sz="2000" b="1" dirty="0">
                <a:latin typeface="Bodoni MT" panose="02070603080606020203" pitchFamily="18" charset="0"/>
              </a:rPr>
              <a:t>Battery Electric Vehicles (BEVs)</a:t>
            </a:r>
            <a:r>
              <a:rPr lang="en-US" sz="2000" dirty="0">
                <a:latin typeface="Bodoni MT" panose="02070603080606020203" pitchFamily="18" charset="0"/>
              </a:rPr>
              <a:t> over PHEVs.</a:t>
            </a:r>
            <a:endParaRPr lang="en-US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Baskerville Old Face" panose="02020602080505020303" pitchFamily="18" charset="0"/>
              </a:rPr>
              <a:t>With details on </a:t>
            </a:r>
            <a:r>
              <a:rPr lang="en-US" sz="2000" b="1" dirty="0">
                <a:latin typeface="Baskerville Old Face" panose="02020602080505020303" pitchFamily="18" charset="0"/>
              </a:rPr>
              <a:t>range, incentives, and location</a:t>
            </a:r>
            <a:r>
              <a:rPr lang="en-US" sz="2000" dirty="0">
                <a:latin typeface="Baskerville Old Face" panose="02020602080505020303" pitchFamily="18" charset="0"/>
              </a:rPr>
              <a:t>, the dataset helps uncover </a:t>
            </a:r>
            <a:r>
              <a:rPr lang="en-US" sz="2000" b="1" dirty="0">
                <a:latin typeface="Baskerville Old Face" panose="02020602080505020303" pitchFamily="18" charset="0"/>
              </a:rPr>
              <a:t>factors influencing consumer adoption</a:t>
            </a:r>
            <a:r>
              <a:rPr lang="en-US" sz="2000" dirty="0">
                <a:latin typeface="Baskerville Old Face" panose="02020602080505020303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250,659 rows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Bodoni MT" panose="02070603080606020203" pitchFamily="18" charset="0"/>
              </a:rPr>
              <a:t>Mix of categorical and numerical data</a:t>
            </a:r>
            <a:endParaRPr lang="en-US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Key Features Include: </a:t>
            </a:r>
            <a:r>
              <a:rPr lang="en-IN" sz="2000" dirty="0">
                <a:latin typeface="Bodoni MT" panose="02070603080606020203" pitchFamily="18" charset="0"/>
              </a:rPr>
              <a:t>VIN (1-10), County, City, State, Postal Code, Model Year, Make, Model</a:t>
            </a:r>
          </a:p>
          <a:p>
            <a:r>
              <a:rPr lang="en-IN" sz="2000" dirty="0">
                <a:latin typeface="Bodoni MT" panose="02070603080606020203" pitchFamily="18" charset="0"/>
              </a:rPr>
              <a:t>Electric Vehicle Type, Clean Alternative Fuel Vehicle (CAFV) Eligibility, Electric Range, Base MSRP, Legislative District, DOL Vehicle ID</a:t>
            </a:r>
          </a:p>
          <a:p>
            <a:r>
              <a:rPr lang="en-IN" sz="2000" dirty="0">
                <a:latin typeface="Bodoni MT" panose="02070603080606020203" pitchFamily="18" charset="0"/>
              </a:rPr>
              <a:t>Vehicle Location, Electric Utility, 2020 Census Tract</a:t>
            </a:r>
          </a:p>
          <a:p>
            <a:pPr algn="just"/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8A34E-7D8A-02F1-5EF5-20031729D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03" y="262149"/>
            <a:ext cx="11892597" cy="623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9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3FBB1A-F6FA-183E-A62C-CC0814B1BA53}"/>
              </a:ext>
            </a:extLst>
          </p:cNvPr>
          <p:cNvSpPr txBox="1"/>
          <p:nvPr/>
        </p:nvSpPr>
        <p:spPr>
          <a:xfrm>
            <a:off x="581721" y="282862"/>
            <a:ext cx="11389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F4BCE-B919-0030-F3E3-2D8E92EE9CC8}"/>
              </a:ext>
            </a:extLst>
          </p:cNvPr>
          <p:cNvSpPr txBox="1"/>
          <p:nvPr/>
        </p:nvSpPr>
        <p:spPr>
          <a:xfrm>
            <a:off x="718277" y="1093509"/>
            <a:ext cx="11602556" cy="512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odoni MT" panose="02070603080606020203" pitchFamily="18" charset="0"/>
              </a:rPr>
              <a:t>🔴 Problem: Which type of Electric Vehicle (BEV or PHEV) is most widely adopted?</a:t>
            </a:r>
            <a:br>
              <a:rPr lang="en-US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✅ Goal: Compare adoption trends between BEVs and PHEVs.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doni MT" panose="02070603080606020203" pitchFamily="18" charset="0"/>
              </a:rPr>
              <a:t>🔴 Problem: Which manufacturers dominate the EV market?</a:t>
            </a:r>
            <a:br>
              <a:rPr lang="en-US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✅ Goal: Identify the top-performing EV manufacturers and models.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doni MT" panose="02070603080606020203" pitchFamily="18" charset="0"/>
              </a:rPr>
              <a:t>🔴 Problem: How does electric range and cost (MSRP) affect adoption?</a:t>
            </a:r>
            <a:br>
              <a:rPr lang="en-US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✅ Goal: Analyze the impact of range and pricing on consumer choices.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doni MT" panose="02070603080606020203" pitchFamily="18" charset="0"/>
              </a:rPr>
              <a:t>🔴 Problem: Which counties and cities lead in EV registrations?</a:t>
            </a:r>
            <a:br>
              <a:rPr lang="en-US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✅ Goal: Discover geographical hotspots of EV adoption.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doni MT" panose="02070603080606020203" pitchFamily="18" charset="0"/>
              </a:rPr>
              <a:t>🔴 Problem: Does CAFV eligibility influence adoption?</a:t>
            </a:r>
            <a:br>
              <a:rPr lang="en-US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✅ Goal: Study the role of government incentives in boosting EV registrations.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11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A8A01A-A6A5-557B-4D26-338E0E39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113123"/>
            <a:ext cx="10816472" cy="121872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B10FE4-D3F4-1C45-6EA5-0A36D3CA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328" y="1140644"/>
            <a:ext cx="10651880" cy="51229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latin typeface="Bodoni MT" panose="02070603080606020203" pitchFamily="18" charset="0"/>
              </a:rPr>
              <a:t>Battery Electric Vehicles (BEVs)</a:t>
            </a:r>
            <a:r>
              <a:rPr lang="en-US" sz="2000" dirty="0">
                <a:latin typeface="Bodoni MT" panose="02070603080606020203" pitchFamily="18" charset="0"/>
              </a:rPr>
              <a:t> dominate the dataset compared to Plug-in Hybrid Electric Vehicles (PHEVs).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latin typeface="Bodoni MT" panose="02070603080606020203" pitchFamily="18" charset="0"/>
              </a:rPr>
              <a:t>Tesla</a:t>
            </a:r>
            <a:r>
              <a:rPr lang="en-US" sz="2000" dirty="0">
                <a:latin typeface="Bodoni MT" panose="02070603080606020203" pitchFamily="18" charset="0"/>
              </a:rPr>
              <a:t> is the leading EV manufacturer, followed by </a:t>
            </a:r>
            <a:r>
              <a:rPr lang="en-US" sz="2000" b="1" dirty="0">
                <a:latin typeface="Bodoni MT" panose="02070603080606020203" pitchFamily="18" charset="0"/>
              </a:rPr>
              <a:t>Nissan, Chevrolet, Kia, and BMW</a:t>
            </a:r>
            <a:r>
              <a:rPr lang="en-US" sz="2000" dirty="0">
                <a:latin typeface="Bodoni MT" panose="02070603080606020203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latin typeface="Bodoni MT" panose="02070603080606020203" pitchFamily="18" charset="0"/>
              </a:rPr>
              <a:t>King County</a:t>
            </a:r>
            <a:r>
              <a:rPr lang="en-US" sz="2000" dirty="0">
                <a:latin typeface="Bodoni MT" panose="02070603080606020203" pitchFamily="18" charset="0"/>
              </a:rPr>
              <a:t> has the highest number of EV registrations, making it the central hub of adoption.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latin typeface="Bodoni MT" panose="02070603080606020203" pitchFamily="18" charset="0"/>
              </a:rPr>
              <a:t>Urban areas</a:t>
            </a:r>
            <a:r>
              <a:rPr lang="en-US" sz="2000" dirty="0">
                <a:latin typeface="Bodoni MT" panose="02070603080606020203" pitchFamily="18" charset="0"/>
              </a:rPr>
              <a:t> show significantly higher EV adoption compared to rural regions.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Most BEVs have a </a:t>
            </a:r>
            <a:r>
              <a:rPr lang="en-US" sz="2000" b="1" dirty="0">
                <a:latin typeface="Bodoni MT" panose="02070603080606020203" pitchFamily="18" charset="0"/>
              </a:rPr>
              <a:t>higher electric range (200–300+ miles)</a:t>
            </a:r>
            <a:r>
              <a:rPr lang="en-US" sz="2000" dirty="0">
                <a:latin typeface="Bodoni MT" panose="02070603080606020203" pitchFamily="18" charset="0"/>
              </a:rPr>
              <a:t> compared to PHEVs, making them more popular.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latin typeface="Bodoni MT" panose="02070603080606020203" pitchFamily="18" charset="0"/>
              </a:rPr>
              <a:t>CAFV-eligible vehicles</a:t>
            </a:r>
            <a:r>
              <a:rPr lang="en-US" sz="2000" dirty="0">
                <a:latin typeface="Bodoni MT" panose="02070603080606020203" pitchFamily="18" charset="0"/>
              </a:rPr>
              <a:t> (those qualifying for government incentives) are more widely adopted.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The </a:t>
            </a:r>
            <a:r>
              <a:rPr lang="en-US" sz="2000" b="1" dirty="0">
                <a:latin typeface="Bodoni MT" panose="02070603080606020203" pitchFamily="18" charset="0"/>
              </a:rPr>
              <a:t>average MSRP (price)</a:t>
            </a:r>
            <a:r>
              <a:rPr lang="en-US" sz="2000" dirty="0">
                <a:latin typeface="Bodoni MT" panose="02070603080606020203" pitchFamily="18" charset="0"/>
              </a:rPr>
              <a:t> of EVs in the dataset suggests EVs are still premium-priced, but adoption is growing.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EV adoption has been </a:t>
            </a:r>
            <a:r>
              <a:rPr lang="en-US" sz="2000" b="1" dirty="0">
                <a:latin typeface="Bodoni MT" panose="02070603080606020203" pitchFamily="18" charset="0"/>
              </a:rPr>
              <a:t>steadily increasing year over year</a:t>
            </a:r>
            <a:r>
              <a:rPr lang="en-US" sz="2000" dirty="0">
                <a:latin typeface="Bodoni MT" panose="02070603080606020203" pitchFamily="18" charset="0"/>
              </a:rPr>
              <a:t>, showing a positive growth trend toward clean transportation.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48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C65F-089E-5CDF-17BA-3958554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274" y="498032"/>
            <a:ext cx="9110472" cy="80530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715BFD-B4C9-1E1D-3FEC-C1680AC82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4635" y="1667768"/>
            <a:ext cx="98227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Electric Vehicles (EVs) are experiencing rapid adoption in Washington State, led by Battery Electric Vehicles (BEVs).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Tesla remains the market leader, followed by Nissan, Chevrolet, and Kia.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Government incentives (CAFV eligibility) and electric range are key factors driving consumer adoption.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Urban counties like King and Snohomish show the highest concentration of EV registrations.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The overall trend indicates a steady shift toward clean and sustainable transportation.</a:t>
            </a:r>
          </a:p>
        </p:txBody>
      </p:sp>
    </p:spTree>
    <p:extLst>
      <p:ext uri="{BB962C8B-B14F-4D97-AF65-F5344CB8AC3E}">
        <p14:creationId xmlns:p14="http://schemas.microsoft.com/office/powerpoint/2010/main" val="2394940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68E8-E2D9-8CFC-1310-8F442C373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48" y="27876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0308D7-6A86-4A6E-4A55-7E279AC1CF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578" y="1604332"/>
            <a:ext cx="101073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Develop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predictive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to forecast EV adoption trends across counties and years.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Build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EV recommendation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based on range, cost (MSRP), and CAFV eligibility.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Create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interactive dashboards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to monitor real-time EV adoption and policy impact.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Analyze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charging infrastructure needs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by mapping EV density with utility data.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Extend the study to 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temporal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(yearly growth, future projections).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Provide insights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support government policies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and encourage sustainable adoption.</a:t>
            </a:r>
          </a:p>
        </p:txBody>
      </p:sp>
    </p:spTree>
    <p:extLst>
      <p:ext uri="{BB962C8B-B14F-4D97-AF65-F5344CB8AC3E}">
        <p14:creationId xmlns:p14="http://schemas.microsoft.com/office/powerpoint/2010/main" val="3635556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4465642" cy="118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667</Words>
  <Application>Microsoft Office PowerPoint</Application>
  <PresentationFormat>Widescreen</PresentationFormat>
  <Paragraphs>47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Baskerville Old Face</vt:lpstr>
      <vt:lpstr>Libre Baskerville</vt:lpstr>
      <vt:lpstr>Lato Black</vt:lpstr>
      <vt:lpstr>Bodoni MT</vt:lpstr>
      <vt:lpstr>Calibri</vt:lpstr>
      <vt:lpstr>Arial</vt:lpstr>
      <vt:lpstr>Times New Roman</vt:lpstr>
      <vt:lpstr>Wingdings</vt:lpstr>
      <vt:lpstr>Office Theme</vt:lpstr>
      <vt:lpstr>Presented By: B. Sairaj</vt:lpstr>
      <vt:lpstr>PowerPoint Presentation</vt:lpstr>
      <vt:lpstr>Dataset Overview :</vt:lpstr>
      <vt:lpstr>PowerPoint Presentation</vt:lpstr>
      <vt:lpstr>PowerPoint Presentation</vt:lpstr>
      <vt:lpstr>Insights</vt:lpstr>
      <vt:lpstr>Conclusion</vt:lpstr>
      <vt:lpstr>Future Scope: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sai raj</cp:lastModifiedBy>
  <cp:revision>11</cp:revision>
  <dcterms:created xsi:type="dcterms:W3CDTF">2021-02-16T05:19:01Z</dcterms:created>
  <dcterms:modified xsi:type="dcterms:W3CDTF">2025-09-05T07:38:01Z</dcterms:modified>
</cp:coreProperties>
</file>